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1" r:id="rId14"/>
    <p:sldId id="272" r:id="rId15"/>
    <p:sldId id="268" r:id="rId16"/>
    <p:sldId id="269" r:id="rId17"/>
    <p:sldId id="270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6247" autoAdjust="0"/>
  </p:normalViewPr>
  <p:slideViewPr>
    <p:cSldViewPr snapToGrid="0">
      <p:cViewPr varScale="1">
        <p:scale>
          <a:sx n="106" d="100"/>
          <a:sy n="106" d="100"/>
        </p:scale>
        <p:origin x="7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EC842B-0348-4803-A2BA-7CA521E66A4F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C57604-35D8-4407-9476-F52A2C057C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399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C57604-35D8-4407-9476-F52A2C057C3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92919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A5D5D-DD33-1A12-F8E3-6F7D9774F2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768A8E-D33A-B8B8-6122-D3076AA108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130CF5-D56D-1D9E-C601-A23BF2957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52C80-48C4-44F8-A31C-670E5D59D16F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F61C2-7E0B-BE8F-1492-FAA8820E7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AC813-134E-EBEC-E37E-49C76AF7D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F2461-9A09-4A32-8B05-90F7CAF7C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688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514DA-5E33-0D93-D422-C83098FE7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0C4E9-D837-1CE5-1A71-F9D8F557A2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C7FAF0-B5BA-9944-DA01-D3EA6331B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52C80-48C4-44F8-A31C-670E5D59D16F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D5004D-5914-00C1-5E5D-7B5D19CA5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ACB076-5979-3D31-C296-DD4975D45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F2461-9A09-4A32-8B05-90F7CAF7C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5454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3EAF5-3A4D-F998-AF2C-FE94D2D19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5C58E-2076-2070-2063-1C5B918BC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90C2E7-8D00-4145-78A2-FD351E522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52C80-48C4-44F8-A31C-670E5D59D16F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1F33E3-F780-6E6B-BF9B-8FC1ED067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8AAE3-7AFC-E35C-3504-D4D498990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F2461-9A09-4A32-8B05-90F7CAF7C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5164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5BBBE-77DD-3BC1-7B0B-C8C0D105B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283EE-C1C5-9045-305C-7F3A3AEC9D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0C8E9E-D74D-A7FE-4A62-C6870E8365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53923E-0B92-72F9-5DD7-0A76E283F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52C80-48C4-44F8-A31C-670E5D59D16F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F451F3-1294-DF9D-1E14-2512F8DF8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A9C253-81EE-CE17-C883-3420F4C0B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F2461-9A09-4A32-8B05-90F7CAF7C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1191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E08E2-0532-7050-B891-F51CA4D29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72A9EE-6A26-7422-3EF8-33DA5F32C2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03A570-B0F4-E4E7-CE21-70CDC2C06B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3B4B23-0BF8-EB42-A3F7-ECA1CDD6CD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0367EE-D25D-38C5-147D-4FC9C00311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F5991F-BF03-8ADB-CEC7-77A0DD6FA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52C80-48C4-44F8-A31C-670E5D59D16F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0A820E-6300-64B3-48C5-6A6A86E09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67E83D-9B7D-06A5-0EC9-2FBB744FD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F2461-9A09-4A32-8B05-90F7CAF7C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4341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6926D-9F76-B6E6-250E-B85D28892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81186E-EACA-0B0F-C97E-D28988BDF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52C80-48C4-44F8-A31C-670E5D59D16F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ECE580-DABB-DE80-8AEB-00C7467FB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4CBA4-C085-E074-AB34-E86345416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F2461-9A09-4A32-8B05-90F7CAF7C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4145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381C2F-76EA-C918-DB28-B2D6D245D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52C80-48C4-44F8-A31C-670E5D59D16F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F8BCC8-2F60-C17C-CC76-8647A5D45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1B7EF2-F34D-724C-44E7-C80F8A219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F2461-9A09-4A32-8B05-90F7CAF7C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4999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B5F10-40ED-49B1-4C0F-E08565B3E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9F1FF-9B85-D460-9BDA-ECE274C9C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C0F050-A183-75DF-1696-D288A57975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97D776-76D1-F6BD-6AF5-1E836B4D2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52C80-48C4-44F8-A31C-670E5D59D16F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6D6773-DDF3-65C2-4FB1-B818A3DE3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54545B-2D95-8763-705C-BC8095581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F2461-9A09-4A32-8B05-90F7CAF7C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7957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3CB36-950C-1808-0F84-7AF89C58A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0C3A7D-9D0C-D589-C36E-0EC4442A90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E56104-5F58-BD87-E4A8-79D1EAB85B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57D525-619A-E85F-4876-775787C6D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52C80-48C4-44F8-A31C-670E5D59D16F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8F65AA-77E7-D984-4D31-A2DF2A7AB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BE589B-F6C3-5DFE-56CB-3434C701C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F2461-9A09-4A32-8B05-90F7CAF7C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0463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2313A-DD60-8106-C198-5DE60B718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E89B22-4893-8E13-8B85-AAFC3D5F4D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D7E0A-9722-B5F8-FE9C-35BE67F03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52C80-48C4-44F8-A31C-670E5D59D16F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96ADF-9C3A-8BEC-1105-C5897E1CF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236C9-7CB0-669E-BA02-F92230CC5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F2461-9A09-4A32-8B05-90F7CAF7C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4175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A77BFD-7F06-0A1A-92C9-1D1C15DAA1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A34922-6756-B1A4-8E3E-62AEBA8B1B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5FE61F-9681-81C9-C611-8DBFCB780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52C80-48C4-44F8-A31C-670E5D59D16F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87D564-E87D-B2C3-3754-73ECC79C8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96BD45-ECE3-A8F2-9926-0E9C64142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F2461-9A09-4A32-8B05-90F7CAF7C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5543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E4912E-DAA4-E9CC-421E-D479EBAAE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D31C67-76C8-8D0C-9E59-64F5845EF3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EAEF6-C73B-1F22-417C-77FF3FC9CD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252C80-48C4-44F8-A31C-670E5D59D16F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F6EC07-53EB-3964-59ED-C04743C906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CA3F0E-A437-1410-2951-879886D81E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CF2461-9A09-4A32-8B05-90F7CAF7C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5465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9su64c6xicuPuk-qsKrjKj6YEm1PEozo/view?usp=drive_link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6D4C2-B135-3DEF-8D44-D11D696D38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Logistics Optimization for Delivery Routes – Amazon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3CC940-285E-3667-82CD-1E19C5C11D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SQL-Based Analytics Project</a:t>
            </a:r>
          </a:p>
          <a:p>
            <a:r>
              <a:rPr lang="en-IN" dirty="0" err="1"/>
              <a:t>Kshitiz</a:t>
            </a:r>
            <a:r>
              <a:rPr lang="en-IN" dirty="0"/>
              <a:t> Prakash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2369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960"/>
    </mc:Choice>
    <mc:Fallback xmlns="">
      <p:transition spd="slow" advTm="1196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0B096-3466-2281-2F3A-225CD28A3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Overview &amp; Objective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C4CAAD6-5FED-6816-9AB3-9F04353EE0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2633602"/>
            <a:ext cx="1107803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Amazon handles high-volume logistics operations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Delays increase costs and reduce customer satisfaction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used to analyze: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Delivery Delays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Route Efficiency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Warehouse &amp; agent performance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9792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368"/>
    </mc:Choice>
    <mc:Fallback xmlns="">
      <p:transition spd="slow" advTm="23368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48CC2-0B7E-E821-09EF-4797915D7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Overview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1E7CEDD-3B84-76B8-1745-39B63E929F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3484392"/>
              </p:ext>
            </p:extLst>
          </p:nvPr>
        </p:nvGraphicFramePr>
        <p:xfrm>
          <a:off x="838200" y="1690688"/>
          <a:ext cx="10515600" cy="3407886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93996791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238459658"/>
                    </a:ext>
                  </a:extLst>
                </a:gridCol>
              </a:tblGrid>
              <a:tr h="567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Table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5704407"/>
                  </a:ext>
                </a:extLst>
              </a:tr>
              <a:tr h="567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Orders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Order &amp; delivery status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081112"/>
                  </a:ext>
                </a:extLst>
              </a:tr>
              <a:tr h="567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Routes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Distance, traffic &amp; region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8442641"/>
                  </a:ext>
                </a:extLst>
              </a:tr>
              <a:tr h="567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Warehouses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Processing performance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5803664"/>
                  </a:ext>
                </a:extLst>
              </a:tr>
              <a:tr h="567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DeliveryAgents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Agent efficiency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8404112"/>
                  </a:ext>
                </a:extLst>
              </a:tr>
              <a:tr h="567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Shipment Tracking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Checkpoint-level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62072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0316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069"/>
    </mc:Choice>
    <mc:Fallback xmlns="">
      <p:transition spd="slow" advTm="33069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9A1C4-32A1-0826-6118-64D58B173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1 – Data Cleaning &amp; Preparation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4EFBE-B3A7-11D8-229E-A78CFB3FB4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    </a:t>
            </a:r>
          </a:p>
          <a:p>
            <a:pPr marL="0" indent="0">
              <a:buNone/>
            </a:pPr>
            <a:r>
              <a:rPr lang="en-IN" dirty="0"/>
              <a:t>    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NULL traffic delay handling: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30D1CDC-A025-8841-FD6A-1B796E930E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2778" y="1646792"/>
            <a:ext cx="4744112" cy="114316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 descr="A screenshot of a computer">
            <a:extLst>
              <a:ext uri="{FF2B5EF4-FFF2-40B4-BE49-F238E27FC236}">
                <a16:creationId xmlns:a16="http://schemas.microsoft.com/office/drawing/2014/main" id="{CB24C0C4-AA1C-6B3A-6A9B-1D838163E8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2779" y="3407489"/>
            <a:ext cx="4744112" cy="258163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0224DF5-13AD-9674-2AEE-5CC405E56E21}"/>
              </a:ext>
            </a:extLst>
          </p:cNvPr>
          <p:cNvSpPr txBox="1"/>
          <p:nvPr/>
        </p:nvSpPr>
        <p:spPr>
          <a:xfrm>
            <a:off x="2201454" y="1831727"/>
            <a:ext cx="60944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Duplicate removal :</a:t>
            </a:r>
          </a:p>
        </p:txBody>
      </p:sp>
    </p:spTree>
    <p:extLst>
      <p:ext uri="{BB962C8B-B14F-4D97-AF65-F5344CB8AC3E}">
        <p14:creationId xmlns:p14="http://schemas.microsoft.com/office/powerpoint/2010/main" val="2528893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347"/>
    </mc:Choice>
    <mc:Fallback xmlns="">
      <p:transition spd="slow" advTm="24347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1D3A0-D256-B591-D97C-DA9968171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74"/>
            <a:ext cx="10515600" cy="1325563"/>
          </a:xfrm>
        </p:spPr>
        <p:txBody>
          <a:bodyPr/>
          <a:lstStyle/>
          <a:p>
            <a:r>
              <a:rPr lang="en-US" dirty="0"/>
              <a:t>Task 1 – Data Cleaning &amp; Preparation</a:t>
            </a:r>
            <a:endParaRPr lang="en-IN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5D4CB99-F950-94E7-77DD-4E576FC311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8086" y="1419337"/>
            <a:ext cx="4977785" cy="200966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 descr="A screenshot of a computer">
            <a:extLst>
              <a:ext uri="{FF2B5EF4-FFF2-40B4-BE49-F238E27FC236}">
                <a16:creationId xmlns:a16="http://schemas.microsoft.com/office/drawing/2014/main" id="{742B05CA-AD4B-EDBE-469F-6280BB9A6A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8087" y="4339348"/>
            <a:ext cx="4977785" cy="100979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59B4323-80D7-1BC0-AD2F-9F9F7CB1FAB1}"/>
              </a:ext>
            </a:extLst>
          </p:cNvPr>
          <p:cNvSpPr txBox="1"/>
          <p:nvPr/>
        </p:nvSpPr>
        <p:spPr>
          <a:xfrm>
            <a:off x="1225296" y="2084832"/>
            <a:ext cx="37856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Date conversion: -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9CB066-8BBB-3A02-BAB2-2D189FDC6AEC}"/>
              </a:ext>
            </a:extLst>
          </p:cNvPr>
          <p:cNvSpPr txBox="1"/>
          <p:nvPr/>
        </p:nvSpPr>
        <p:spPr>
          <a:xfrm>
            <a:off x="1298448" y="4385068"/>
            <a:ext cx="37490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Invalid date flag :-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064403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535"/>
    </mc:Choice>
    <mc:Fallback xmlns="">
      <p:transition spd="slow" advTm="27535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F925E-869A-79BB-E2F1-D761B7FB2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0712" y="0"/>
            <a:ext cx="5370576" cy="622427"/>
          </a:xfrm>
        </p:spPr>
        <p:txBody>
          <a:bodyPr>
            <a:normAutofit/>
          </a:bodyPr>
          <a:lstStyle/>
          <a:p>
            <a:r>
              <a:rPr lang="en-US" sz="2800" dirty="0"/>
              <a:t>Task 2 – Delivery Delay Analysis</a:t>
            </a:r>
            <a:endParaRPr lang="en-IN" sz="2800" dirty="0"/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873194F-E510-C0E5-671E-1BDF3877DA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550" y="622427"/>
            <a:ext cx="5182323" cy="581558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 descr="A screenshot of a data&#10;&#10;AI-generated content may be incorrect.">
            <a:extLst>
              <a:ext uri="{FF2B5EF4-FFF2-40B4-BE49-F238E27FC236}">
                <a16:creationId xmlns:a16="http://schemas.microsoft.com/office/drawing/2014/main" id="{5BA6088A-63C5-A06F-6282-E317F66C9F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5866" y="1755456"/>
            <a:ext cx="4810796" cy="274358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F7541CB-3FCB-6C18-2CE2-A5B7DB347BAD}"/>
              </a:ext>
            </a:extLst>
          </p:cNvPr>
          <p:cNvSpPr txBox="1"/>
          <p:nvPr/>
        </p:nvSpPr>
        <p:spPr>
          <a:xfrm>
            <a:off x="2130552" y="6461236"/>
            <a:ext cx="4325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Delay calculation query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71CE14-C943-7E89-FCC6-E8465E4BA8B6}"/>
              </a:ext>
            </a:extLst>
          </p:cNvPr>
          <p:cNvSpPr txBox="1"/>
          <p:nvPr/>
        </p:nvSpPr>
        <p:spPr>
          <a:xfrm>
            <a:off x="7424928" y="4818888"/>
            <a:ext cx="4105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Delay calculation query (output)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3742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3302"/>
    </mc:Choice>
    <mc:Fallback xmlns="">
      <p:transition spd="slow" advTm="63302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2B05D-F7C8-CB19-C4EA-C2386F76F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7872" y="186626"/>
            <a:ext cx="4123944" cy="494411"/>
          </a:xfrm>
        </p:spPr>
        <p:txBody>
          <a:bodyPr>
            <a:normAutofit/>
          </a:bodyPr>
          <a:lstStyle/>
          <a:p>
            <a:r>
              <a:rPr lang="en-US" sz="2400" dirty="0"/>
              <a:t>Task 2 – Delivery Delay Analysis</a:t>
            </a:r>
            <a:endParaRPr lang="en-IN" sz="2400" dirty="0"/>
          </a:p>
        </p:txBody>
      </p:sp>
      <p:pic>
        <p:nvPicPr>
          <p:cNvPr id="5" name="Picture 4" descr="A screenshot of a computer">
            <a:extLst>
              <a:ext uri="{FF2B5EF4-FFF2-40B4-BE49-F238E27FC236}">
                <a16:creationId xmlns:a16="http://schemas.microsoft.com/office/drawing/2014/main" id="{C9A12F6A-67CC-2369-3327-29A4DCC04C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525" y="846159"/>
            <a:ext cx="6048387" cy="273041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7E333B5-DFBB-D96C-7AC1-5BA196C8C2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1412" y="846159"/>
            <a:ext cx="2381582" cy="212437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 descr="A screenshot of a computer">
            <a:extLst>
              <a:ext uri="{FF2B5EF4-FFF2-40B4-BE49-F238E27FC236}">
                <a16:creationId xmlns:a16="http://schemas.microsoft.com/office/drawing/2014/main" id="{71DF6F96-C3E5-690A-D40A-F76D9E69FE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215" y="3957568"/>
            <a:ext cx="6335009" cy="235300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 descr="A screenshot of a data">
            <a:extLst>
              <a:ext uri="{FF2B5EF4-FFF2-40B4-BE49-F238E27FC236}">
                <a16:creationId xmlns:a16="http://schemas.microsoft.com/office/drawing/2014/main" id="{390E3C56-D33D-CF0E-606F-00AA6CADD4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9431" y="3957568"/>
            <a:ext cx="4058216" cy="232442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A47ED37-66D5-B766-6625-76F9B76FCF19}"/>
              </a:ext>
            </a:extLst>
          </p:cNvPr>
          <p:cNvSpPr txBox="1"/>
          <p:nvPr/>
        </p:nvSpPr>
        <p:spPr>
          <a:xfrm>
            <a:off x="1207008" y="2898648"/>
            <a:ext cx="5413248" cy="384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Top 10 delayed routes table query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F7DFD1-08C0-2490-3C2B-1263E5F07EEF}"/>
              </a:ext>
            </a:extLst>
          </p:cNvPr>
          <p:cNvSpPr txBox="1"/>
          <p:nvPr/>
        </p:nvSpPr>
        <p:spPr>
          <a:xfrm>
            <a:off x="8077855" y="3105834"/>
            <a:ext cx="28522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Top 10 delayed routes table query output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7D9D4F-5833-90A5-16E5-45CFAC297A05}"/>
              </a:ext>
            </a:extLst>
          </p:cNvPr>
          <p:cNvSpPr txBox="1"/>
          <p:nvPr/>
        </p:nvSpPr>
        <p:spPr>
          <a:xfrm>
            <a:off x="1115568" y="6400800"/>
            <a:ext cx="5751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Warehouse-level delay ranking query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6BF04D-4FCE-9DB6-3860-94CEA0906E8A}"/>
              </a:ext>
            </a:extLst>
          </p:cNvPr>
          <p:cNvSpPr txBox="1"/>
          <p:nvPr/>
        </p:nvSpPr>
        <p:spPr>
          <a:xfrm>
            <a:off x="7849431" y="6344150"/>
            <a:ext cx="40582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Warehouse-level delay ranking query output</a:t>
            </a:r>
          </a:p>
        </p:txBody>
      </p:sp>
    </p:spTree>
    <p:extLst>
      <p:ext uri="{BB962C8B-B14F-4D97-AF65-F5344CB8AC3E}">
        <p14:creationId xmlns:p14="http://schemas.microsoft.com/office/powerpoint/2010/main" val="3373066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8734"/>
    </mc:Choice>
    <mc:Fallback xmlns="">
      <p:transition spd="slow" advTm="68734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5235E-9B0C-CA68-281C-3831A5A62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2 – Delivery Delay Analysis</a:t>
            </a:r>
            <a:endParaRPr lang="en-IN" dirty="0"/>
          </a:p>
        </p:txBody>
      </p:sp>
      <p:pic>
        <p:nvPicPr>
          <p:cNvPr id="7" name="Content Placeholder 6" descr="A graph of a delay&#10;&#10;AI-generated content may be incorrect.">
            <a:extLst>
              <a:ext uri="{FF2B5EF4-FFF2-40B4-BE49-F238E27FC236}">
                <a16:creationId xmlns:a16="http://schemas.microsoft.com/office/drawing/2014/main" id="{AE32B2F5-D273-7D69-09E2-300FBFCAD8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6495" y="1765427"/>
            <a:ext cx="8082401" cy="395537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5F46641-BC62-13B4-1C8D-754C26CBF5C6}"/>
              </a:ext>
            </a:extLst>
          </p:cNvPr>
          <p:cNvSpPr txBox="1"/>
          <p:nvPr/>
        </p:nvSpPr>
        <p:spPr>
          <a:xfrm>
            <a:off x="2163104" y="5720797"/>
            <a:ext cx="66549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Insights :- Route R019 </a:t>
            </a:r>
            <a:r>
              <a:rPr lang="en-IN" dirty="0" err="1"/>
              <a:t>amd</a:t>
            </a:r>
            <a:r>
              <a:rPr lang="en-IN" dirty="0"/>
              <a:t> R015 had most number of delays whereas R002 took minimum number of delays . </a:t>
            </a:r>
          </a:p>
        </p:txBody>
      </p:sp>
    </p:spTree>
    <p:extLst>
      <p:ext uri="{BB962C8B-B14F-4D97-AF65-F5344CB8AC3E}">
        <p14:creationId xmlns:p14="http://schemas.microsoft.com/office/powerpoint/2010/main" val="339576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657"/>
    </mc:Choice>
    <mc:Fallback xmlns="">
      <p:transition spd="slow" advTm="27657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E766A-9A22-8360-29A0-8E400070F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8012" y="138790"/>
            <a:ext cx="4780984" cy="542247"/>
          </a:xfrm>
        </p:spPr>
        <p:txBody>
          <a:bodyPr>
            <a:normAutofit/>
          </a:bodyPr>
          <a:lstStyle/>
          <a:p>
            <a:r>
              <a:rPr lang="en-US" sz="2400" dirty="0"/>
              <a:t>Task 3 – Route Optimization Insights</a:t>
            </a:r>
            <a:endParaRPr lang="en-IN" sz="2400" dirty="0"/>
          </a:p>
        </p:txBody>
      </p:sp>
      <p:pic>
        <p:nvPicPr>
          <p:cNvPr id="5" name="Picture 4" descr="A screen shot of a computer">
            <a:extLst>
              <a:ext uri="{FF2B5EF4-FFF2-40B4-BE49-F238E27FC236}">
                <a16:creationId xmlns:a16="http://schemas.microsoft.com/office/drawing/2014/main" id="{21B8434A-FC6B-67B0-48EA-BD872F7766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928" y="760491"/>
            <a:ext cx="3630720" cy="166377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6F3D813-ADA0-075F-5DC2-0F51A1F488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928" y="2690420"/>
            <a:ext cx="3630720" cy="348663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 descr="A computer code with black text">
            <a:extLst>
              <a:ext uri="{FF2B5EF4-FFF2-40B4-BE49-F238E27FC236}">
                <a16:creationId xmlns:a16="http://schemas.microsoft.com/office/drawing/2014/main" id="{3ACB6814-A6E9-B28A-8E78-F81AE917AF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973" y="760491"/>
            <a:ext cx="3569291" cy="162542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 descr="A screenshot of a data">
            <a:extLst>
              <a:ext uri="{FF2B5EF4-FFF2-40B4-BE49-F238E27FC236}">
                <a16:creationId xmlns:a16="http://schemas.microsoft.com/office/drawing/2014/main" id="{90D012DA-0140-7CFA-6C37-D6FCE81F50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3973" y="2690419"/>
            <a:ext cx="3569291" cy="348663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Picture 12" descr="A text on a white background">
            <a:extLst>
              <a:ext uri="{FF2B5EF4-FFF2-40B4-BE49-F238E27FC236}">
                <a16:creationId xmlns:a16="http://schemas.microsoft.com/office/drawing/2014/main" id="{1A454720-A48C-B04C-777E-E71734D238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527" y="760491"/>
            <a:ext cx="3569291" cy="162542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5" name="Picture 14" descr="A screenshot of a table">
            <a:extLst>
              <a:ext uri="{FF2B5EF4-FFF2-40B4-BE49-F238E27FC236}">
                <a16:creationId xmlns:a16="http://schemas.microsoft.com/office/drawing/2014/main" id="{745F4B74-A25B-49A6-EE5F-1BB94E418D8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9723" y="2702741"/>
            <a:ext cx="3494900" cy="347431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8B5CDB0-3AB3-481E-83C7-FB599F6650DA}"/>
              </a:ext>
            </a:extLst>
          </p:cNvPr>
          <p:cNvCxnSpPr>
            <a:cxnSpLocks/>
          </p:cNvCxnSpPr>
          <p:nvPr/>
        </p:nvCxnSpPr>
        <p:spPr>
          <a:xfrm>
            <a:off x="4318503" y="570368"/>
            <a:ext cx="0" cy="61925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443C6E5-1FAB-CFA7-602C-FAD4E2402EAC}"/>
              </a:ext>
            </a:extLst>
          </p:cNvPr>
          <p:cNvCxnSpPr/>
          <p:nvPr/>
        </p:nvCxnSpPr>
        <p:spPr>
          <a:xfrm>
            <a:off x="8211493" y="570368"/>
            <a:ext cx="0" cy="61925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FEC1910-7CC9-A788-2BF3-7B233136FFB9}"/>
              </a:ext>
            </a:extLst>
          </p:cNvPr>
          <p:cNvSpPr txBox="1"/>
          <p:nvPr/>
        </p:nvSpPr>
        <p:spPr>
          <a:xfrm>
            <a:off x="16675" y="6388187"/>
            <a:ext cx="44323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Average delivery time (in days) query and output</a:t>
            </a:r>
            <a:endParaRPr lang="en-IN" sz="1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1FF2A5C-63D9-72F9-C50F-85D8FF6D767F}"/>
              </a:ext>
            </a:extLst>
          </p:cNvPr>
          <p:cNvSpPr txBox="1"/>
          <p:nvPr/>
        </p:nvSpPr>
        <p:spPr>
          <a:xfrm>
            <a:off x="4449062" y="6357409"/>
            <a:ext cx="36318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Average delivery min query and output</a:t>
            </a:r>
            <a:endParaRPr lang="en-IN" sz="16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6F092AE-EDEB-8729-7EBC-EFBB694C8434}"/>
              </a:ext>
            </a:extLst>
          </p:cNvPr>
          <p:cNvSpPr txBox="1"/>
          <p:nvPr/>
        </p:nvSpPr>
        <p:spPr>
          <a:xfrm>
            <a:off x="8316116" y="6352929"/>
            <a:ext cx="3702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Distance-to-time efficiency ratio: </a:t>
            </a:r>
            <a:r>
              <a:rPr lang="en-US" sz="1400" dirty="0" err="1"/>
              <a:t>Distance_KM</a:t>
            </a:r>
            <a:r>
              <a:rPr lang="en-US" sz="1400" dirty="0"/>
              <a:t> / </a:t>
            </a:r>
            <a:r>
              <a:rPr lang="en-US" sz="1400" dirty="0" err="1"/>
              <a:t>Average_Travel_Time_Min</a:t>
            </a:r>
            <a:r>
              <a:rPr lang="en-US" sz="1400" dirty="0"/>
              <a:t>. 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474055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537"/>
    </mc:Choice>
    <mc:Fallback xmlns="">
      <p:transition spd="slow" advTm="50537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C5D09-F05F-2C4C-F683-F54ED94F3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7730" y="68203"/>
            <a:ext cx="4773063" cy="372822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Task 3 – Route Optimization Insights</a:t>
            </a:r>
            <a:endParaRPr lang="en-IN" sz="2400" dirty="0"/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06B26CF-6036-7495-86D3-877897F072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173" y="4656779"/>
            <a:ext cx="5982535" cy="16099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D8395A0-6536-9E1F-B26F-44C3F4E44E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451" y="4660657"/>
            <a:ext cx="3696217" cy="160607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512AAFA-EA5B-4AE2-6965-383612C31A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173" y="485523"/>
            <a:ext cx="5982535" cy="360095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 descr="A screenshot of a data&#10;&#10;AI-generated content may be incorrect.">
            <a:extLst>
              <a:ext uri="{FF2B5EF4-FFF2-40B4-BE49-F238E27FC236}">
                <a16:creationId xmlns:a16="http://schemas.microsoft.com/office/drawing/2014/main" id="{690A2609-CD57-BB4B-D970-D614F74B84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452" y="506493"/>
            <a:ext cx="3696216" cy="360095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0845C44-B768-843C-A7C5-5BE6B41DC324}"/>
              </a:ext>
            </a:extLst>
          </p:cNvPr>
          <p:cNvCxnSpPr/>
          <p:nvPr/>
        </p:nvCxnSpPr>
        <p:spPr>
          <a:xfrm>
            <a:off x="72428" y="4572000"/>
            <a:ext cx="1189625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61CEADF-9794-EA23-1C66-CA048FEA720F}"/>
              </a:ext>
            </a:extLst>
          </p:cNvPr>
          <p:cNvSpPr txBox="1"/>
          <p:nvPr/>
        </p:nvSpPr>
        <p:spPr>
          <a:xfrm>
            <a:off x="2901329" y="4172914"/>
            <a:ext cx="8256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Find routes with &gt;20% delayed shipments query and output.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86B702-9E93-C085-2EFA-A90560FC23B6}"/>
              </a:ext>
            </a:extLst>
          </p:cNvPr>
          <p:cNvSpPr txBox="1"/>
          <p:nvPr/>
        </p:nvSpPr>
        <p:spPr>
          <a:xfrm>
            <a:off x="2901329" y="6351507"/>
            <a:ext cx="8193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Identify 3 routes with the worst efficiency ratio query and output.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8826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5740"/>
    </mc:Choice>
    <mc:Fallback xmlns="">
      <p:transition spd="slow" advTm="10574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AD182-FC2A-2BF3-C146-852B892F0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8965" y="93522"/>
            <a:ext cx="5134069" cy="404420"/>
          </a:xfrm>
        </p:spPr>
        <p:txBody>
          <a:bodyPr>
            <a:normAutofit fontScale="90000"/>
          </a:bodyPr>
          <a:lstStyle/>
          <a:p>
            <a:r>
              <a:rPr lang="en-IN" sz="2400" dirty="0"/>
              <a:t>Task 4 – Warehouse Performance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F3EBD09-AD0B-BB20-8DF1-672CCB3E62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181" y="989500"/>
            <a:ext cx="3343742" cy="154326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2205789-2A7C-3AAF-BA4A-F5D40DA218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181" y="3582909"/>
            <a:ext cx="3343742" cy="186716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16FBED6-2E4E-3EBA-A00B-ED5CADAA93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6797" y="828568"/>
            <a:ext cx="5582429" cy="219105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 descr="A screenshot of a data&#10;&#10;AI-generated content may be incorrect.">
            <a:extLst>
              <a:ext uri="{FF2B5EF4-FFF2-40B4-BE49-F238E27FC236}">
                <a16:creationId xmlns:a16="http://schemas.microsoft.com/office/drawing/2014/main" id="{DBBFCD30-DBB6-B5B0-0B8C-38E481B53C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6797" y="3563857"/>
            <a:ext cx="2762636" cy="188621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2894E79-D453-8D45-44AD-07D5169A8D25}"/>
              </a:ext>
            </a:extLst>
          </p:cNvPr>
          <p:cNvCxnSpPr/>
          <p:nvPr/>
        </p:nvCxnSpPr>
        <p:spPr>
          <a:xfrm>
            <a:off x="5115208" y="570368"/>
            <a:ext cx="0" cy="62106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6E8E660-25EA-8526-4878-7DD7FF94DCDD}"/>
              </a:ext>
            </a:extLst>
          </p:cNvPr>
          <p:cNvSpPr txBox="1"/>
          <p:nvPr/>
        </p:nvSpPr>
        <p:spPr>
          <a:xfrm>
            <a:off x="162962" y="5812325"/>
            <a:ext cx="4716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Find the top 3 warehouses with the highest average processing time query and output.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F80C2B-8946-B297-FD39-06867AFCCBA5}"/>
              </a:ext>
            </a:extLst>
          </p:cNvPr>
          <p:cNvSpPr txBox="1"/>
          <p:nvPr/>
        </p:nvSpPr>
        <p:spPr>
          <a:xfrm>
            <a:off x="5848539" y="5812325"/>
            <a:ext cx="58756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Calculate total vs. delayed shipments for each warehouse query and output.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7236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2758"/>
    </mc:Choice>
    <mc:Fallback xmlns="">
      <p:transition spd="slow" advTm="102758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4D209-401E-CAD8-5A38-883C42F1B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0439" y="-58931"/>
            <a:ext cx="4385736" cy="665513"/>
          </a:xfrm>
        </p:spPr>
        <p:txBody>
          <a:bodyPr>
            <a:normAutofit/>
          </a:bodyPr>
          <a:lstStyle/>
          <a:p>
            <a:r>
              <a:rPr lang="en-IN" sz="2400" dirty="0"/>
              <a:t>Task 4 – Warehouse Performance</a:t>
            </a:r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C1E0315-8FA8-E981-37A8-5D3029638E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217" y="534211"/>
            <a:ext cx="4385735" cy="221010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4FC3DAF-FA80-47B9-5CA0-D2C006428F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217" y="3511663"/>
            <a:ext cx="4385735" cy="108600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9D731833-420B-C284-C592-17A45DB6EF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34211"/>
            <a:ext cx="4760470" cy="406345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 descr="A screenshot of a data&#10;&#10;AI-generated content may be incorrect.">
            <a:extLst>
              <a:ext uri="{FF2B5EF4-FFF2-40B4-BE49-F238E27FC236}">
                <a16:creationId xmlns:a16="http://schemas.microsoft.com/office/drawing/2014/main" id="{E52BD601-12F0-855F-E927-19CD68FD48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780997"/>
            <a:ext cx="4760470" cy="133009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87CA139-02F9-4186-8348-1930FCBCFD69}"/>
              </a:ext>
            </a:extLst>
          </p:cNvPr>
          <p:cNvCxnSpPr>
            <a:cxnSpLocks/>
          </p:cNvCxnSpPr>
          <p:nvPr/>
        </p:nvCxnSpPr>
        <p:spPr>
          <a:xfrm>
            <a:off x="5694630" y="443620"/>
            <a:ext cx="0" cy="62831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5FD9D16-0765-16A1-7ECB-5951DEAC5D92}"/>
              </a:ext>
            </a:extLst>
          </p:cNvPr>
          <p:cNvSpPr txBox="1"/>
          <p:nvPr/>
        </p:nvSpPr>
        <p:spPr>
          <a:xfrm>
            <a:off x="856218" y="5341545"/>
            <a:ext cx="43857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CTEs to find bottleneck warehouses where processing time &gt; global average query and output.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511663-101C-80DA-9D5F-2CFBDAE4CCD3}"/>
              </a:ext>
            </a:extLst>
          </p:cNvPr>
          <p:cNvSpPr txBox="1"/>
          <p:nvPr/>
        </p:nvSpPr>
        <p:spPr>
          <a:xfrm>
            <a:off x="6096000" y="6211669"/>
            <a:ext cx="50397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Rank warehouses based on on-time delivery percentage query and output.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2271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6252"/>
    </mc:Choice>
    <mc:Fallback xmlns="">
      <p:transition spd="slow" advTm="96252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4348D-AF72-0861-FD63-8F7D29C81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318972" cy="657917"/>
          </a:xfrm>
        </p:spPr>
        <p:txBody>
          <a:bodyPr>
            <a:normAutofit fontScale="90000"/>
          </a:bodyPr>
          <a:lstStyle/>
          <a:p>
            <a:r>
              <a:rPr lang="en-IN" dirty="0"/>
              <a:t>Task 4 – Warehouse Performance</a:t>
            </a:r>
          </a:p>
        </p:txBody>
      </p:sp>
      <p:pic>
        <p:nvPicPr>
          <p:cNvPr id="5" name="Content Placeholder 4" descr="A graph of blue bars&#10;&#10;AI-generated content may be incorrect.">
            <a:extLst>
              <a:ext uri="{FF2B5EF4-FFF2-40B4-BE49-F238E27FC236}">
                <a16:creationId xmlns:a16="http://schemas.microsoft.com/office/drawing/2014/main" id="{F6206914-B974-1586-3EAE-4446534196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0783" y="1185862"/>
            <a:ext cx="7410433" cy="44862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BF8548-E394-7CC5-91EA-31B165C1339D}"/>
              </a:ext>
            </a:extLst>
          </p:cNvPr>
          <p:cNvSpPr txBox="1"/>
          <p:nvPr/>
        </p:nvSpPr>
        <p:spPr>
          <a:xfrm>
            <a:off x="2326741" y="5834957"/>
            <a:ext cx="74744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Insights : W010 took most processing time and W006 took least processing time.</a:t>
            </a:r>
          </a:p>
        </p:txBody>
      </p:sp>
    </p:spTree>
    <p:extLst>
      <p:ext uri="{BB962C8B-B14F-4D97-AF65-F5344CB8AC3E}">
        <p14:creationId xmlns:p14="http://schemas.microsoft.com/office/powerpoint/2010/main" val="1318818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417"/>
    </mc:Choice>
    <mc:Fallback xmlns="">
      <p:transition spd="slow" advTm="18417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02681-D400-D985-F538-D9B01A704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E039E-BC2F-63B4-4002-937C38AF4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318972" cy="657917"/>
          </a:xfrm>
        </p:spPr>
        <p:txBody>
          <a:bodyPr>
            <a:normAutofit fontScale="90000"/>
          </a:bodyPr>
          <a:lstStyle/>
          <a:p>
            <a:r>
              <a:rPr lang="en-IN" dirty="0"/>
              <a:t>Task 4 – Warehouse Performance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D1A918-F3DB-A40A-0414-2E594FAD8F56}"/>
              </a:ext>
            </a:extLst>
          </p:cNvPr>
          <p:cNvSpPr txBox="1"/>
          <p:nvPr/>
        </p:nvSpPr>
        <p:spPr>
          <a:xfrm>
            <a:off x="2326741" y="5834957"/>
            <a:ext cx="74744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Insights : DAVIDSHIRE took most processing time  and PETERSHAVEN took least processing time.</a:t>
            </a:r>
          </a:p>
        </p:txBody>
      </p:sp>
      <p:pic>
        <p:nvPicPr>
          <p:cNvPr id="8" name="Content Placeholder 7" descr="A graph with blue lines and numbers&#10;&#10;AI-generated content may be incorrect.">
            <a:extLst>
              <a:ext uri="{FF2B5EF4-FFF2-40B4-BE49-F238E27FC236}">
                <a16:creationId xmlns:a16="http://schemas.microsoft.com/office/drawing/2014/main" id="{C133EF2A-46EE-F67F-7EFB-57F344A3E1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7731" y="1173776"/>
            <a:ext cx="8673219" cy="4351338"/>
          </a:xfrm>
        </p:spPr>
      </p:pic>
    </p:spTree>
    <p:extLst>
      <p:ext uri="{BB962C8B-B14F-4D97-AF65-F5344CB8AC3E}">
        <p14:creationId xmlns:p14="http://schemas.microsoft.com/office/powerpoint/2010/main" val="2698099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082"/>
    </mc:Choice>
    <mc:Fallback xmlns="">
      <p:transition spd="slow" advTm="27082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E5BEE-359A-E443-39EB-65F6CAF79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9247" y="86495"/>
            <a:ext cx="5052588" cy="594542"/>
          </a:xfrm>
        </p:spPr>
        <p:txBody>
          <a:bodyPr>
            <a:normAutofit/>
          </a:bodyPr>
          <a:lstStyle/>
          <a:p>
            <a:r>
              <a:rPr lang="en-US" sz="2400" dirty="0"/>
              <a:t>Task 5 – Delivery Agent Performance</a:t>
            </a:r>
            <a:endParaRPr lang="en-IN" sz="2400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CDDD5C1-7602-4F69-B07E-D3D40C7BE1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333" y="783404"/>
            <a:ext cx="3258004" cy="194946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 descr="A screenshot of a table&#10;&#10;AI-generated content may be incorrect.">
            <a:extLst>
              <a:ext uri="{FF2B5EF4-FFF2-40B4-BE49-F238E27FC236}">
                <a16:creationId xmlns:a16="http://schemas.microsoft.com/office/drawing/2014/main" id="{80454547-F102-3974-E096-62E37A0B5C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332" y="2835232"/>
            <a:ext cx="3258004" cy="297221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429C1F5-5F4B-3C1C-9292-0C5DA34093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9143" y="783403"/>
            <a:ext cx="2581636" cy="133510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 descr="A screenshot of a table&#10;&#10;AI-generated content may be incorrect.">
            <a:extLst>
              <a:ext uri="{FF2B5EF4-FFF2-40B4-BE49-F238E27FC236}">
                <a16:creationId xmlns:a16="http://schemas.microsoft.com/office/drawing/2014/main" id="{3FBF1B19-A329-720B-220A-5DD489C200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9142" y="2236321"/>
            <a:ext cx="2581636" cy="357112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Picture 12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4FF593D1-8795-59FC-9A96-68A06E1C3C8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3583" y="783403"/>
            <a:ext cx="3048425" cy="425826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5" name="Picture 14" descr="A screenshot of a group&#10;&#10;AI-generated content may be incorrect.">
            <a:extLst>
              <a:ext uri="{FF2B5EF4-FFF2-40B4-BE49-F238E27FC236}">
                <a16:creationId xmlns:a16="http://schemas.microsoft.com/office/drawing/2014/main" id="{82E7AFCF-63AD-C4B7-FE94-6A903D2E08D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3583" y="5178709"/>
            <a:ext cx="3048425" cy="62873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4EE8001-C865-1FB1-3204-29EE924F9E85}"/>
              </a:ext>
            </a:extLst>
          </p:cNvPr>
          <p:cNvCxnSpPr/>
          <p:nvPr/>
        </p:nvCxnSpPr>
        <p:spPr>
          <a:xfrm>
            <a:off x="4191754" y="615636"/>
            <a:ext cx="0" cy="61291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1018095-BB1A-00EF-53FF-4D3D01DCC45D}"/>
              </a:ext>
            </a:extLst>
          </p:cNvPr>
          <p:cNvCxnSpPr/>
          <p:nvPr/>
        </p:nvCxnSpPr>
        <p:spPr>
          <a:xfrm>
            <a:off x="7586804" y="615636"/>
            <a:ext cx="0" cy="61291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3ADDB2E-4AE5-EF99-666C-F91A97785904}"/>
              </a:ext>
            </a:extLst>
          </p:cNvPr>
          <p:cNvSpPr txBox="1"/>
          <p:nvPr/>
        </p:nvSpPr>
        <p:spPr>
          <a:xfrm>
            <a:off x="495300" y="5867225"/>
            <a:ext cx="33310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Rank agents (per route) by on-time delivery percentage query and output.</a:t>
            </a:r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8E96690-B6FA-E1F6-9D1F-681F5AD2C9B2}"/>
              </a:ext>
            </a:extLst>
          </p:cNvPr>
          <p:cNvSpPr txBox="1"/>
          <p:nvPr/>
        </p:nvSpPr>
        <p:spPr>
          <a:xfrm>
            <a:off x="4669142" y="5867225"/>
            <a:ext cx="25522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Find agents with on-time % &lt; 80% query and output. </a:t>
            </a:r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84FA25F-139E-275D-03B1-4AE4EE1123BA}"/>
              </a:ext>
            </a:extLst>
          </p:cNvPr>
          <p:cNvSpPr txBox="1"/>
          <p:nvPr/>
        </p:nvSpPr>
        <p:spPr>
          <a:xfrm>
            <a:off x="8093583" y="5905325"/>
            <a:ext cx="30484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Compare average speed of top 5 vs bottom 5 agents using subqueries query and output.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194215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7256"/>
    </mc:Choice>
    <mc:Fallback xmlns="">
      <p:transition spd="slow" advTm="137256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4B8CB-1FCD-337D-4CFE-A9E730411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8525" y="79376"/>
            <a:ext cx="4657726" cy="768349"/>
          </a:xfrm>
        </p:spPr>
        <p:txBody>
          <a:bodyPr>
            <a:normAutofit/>
          </a:bodyPr>
          <a:lstStyle/>
          <a:p>
            <a:r>
              <a:rPr lang="en-US" sz="2400" dirty="0"/>
              <a:t>Task 6 – Shipment Tracking Analytics</a:t>
            </a:r>
            <a:endParaRPr lang="en-IN" sz="2400" dirty="0"/>
          </a:p>
        </p:txBody>
      </p:sp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D92E15B0-36BD-C384-402B-D31E600B6D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462" y="811893"/>
            <a:ext cx="3362794" cy="269330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8FF801E2-F970-32ED-B67B-47103FABB1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462" y="3607367"/>
            <a:ext cx="3362794" cy="243874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DF46ECF-A42B-58E2-4126-76FCF38073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8024" y="1045288"/>
            <a:ext cx="2695951" cy="138131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8FC5B0E-5325-CD42-F92C-46AF3E4735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8024" y="2581157"/>
            <a:ext cx="2695951" cy="84784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Picture 12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BF73843C-3ECE-DF79-26C3-A77ED954948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698" y="980884"/>
            <a:ext cx="2534004" cy="136226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18FEF95-05F5-D63C-B7A7-35ED5D4A9A4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6195" y="2581157"/>
            <a:ext cx="2462507" cy="241968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91003DF-B2BB-B613-1479-4A23E3DF5A12}"/>
              </a:ext>
            </a:extLst>
          </p:cNvPr>
          <p:cNvSpPr txBox="1"/>
          <p:nvPr/>
        </p:nvSpPr>
        <p:spPr>
          <a:xfrm>
            <a:off x="4748024" y="3550217"/>
            <a:ext cx="26959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Find the most common delay reasons query and output.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CCDAA4-6446-1AD0-6CE2-6D9900F4FD0F}"/>
              </a:ext>
            </a:extLst>
          </p:cNvPr>
          <p:cNvSpPr txBox="1"/>
          <p:nvPr/>
        </p:nvSpPr>
        <p:spPr>
          <a:xfrm>
            <a:off x="506461" y="6148274"/>
            <a:ext cx="33627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For each order, list the last checkpoint and time query and output.</a:t>
            </a:r>
            <a:endParaRPr lang="en-IN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9561C4-1B61-7735-ED68-BD2440C7C06B}"/>
              </a:ext>
            </a:extLst>
          </p:cNvPr>
          <p:cNvSpPr txBox="1"/>
          <p:nvPr/>
        </p:nvSpPr>
        <p:spPr>
          <a:xfrm>
            <a:off x="8596195" y="5133975"/>
            <a:ext cx="24625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Identify orders with &gt;2 delayed checkpoints query and output.</a:t>
            </a:r>
            <a:endParaRPr lang="en-IN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3A54D04-D74C-CF73-CBB7-BD36BCA77527}"/>
              </a:ext>
            </a:extLst>
          </p:cNvPr>
          <p:cNvCxnSpPr/>
          <p:nvPr/>
        </p:nvCxnSpPr>
        <p:spPr>
          <a:xfrm>
            <a:off x="4229100" y="685800"/>
            <a:ext cx="0" cy="60674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DE1376C-BF79-0895-8D42-21ED8F022582}"/>
              </a:ext>
            </a:extLst>
          </p:cNvPr>
          <p:cNvCxnSpPr>
            <a:cxnSpLocks/>
          </p:cNvCxnSpPr>
          <p:nvPr/>
        </p:nvCxnSpPr>
        <p:spPr>
          <a:xfrm>
            <a:off x="7886700" y="685800"/>
            <a:ext cx="0" cy="598569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4025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4300"/>
    </mc:Choice>
    <mc:Fallback xmlns="">
      <p:transition spd="slow" advTm="1043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6B330-0C01-BE14-86E4-9E3984A5C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8950" y="107950"/>
            <a:ext cx="5476875" cy="796925"/>
          </a:xfrm>
        </p:spPr>
        <p:txBody>
          <a:bodyPr/>
          <a:lstStyle/>
          <a:p>
            <a:r>
              <a:rPr lang="en-IN" dirty="0"/>
              <a:t>Task 7 – KPI Dashboard</a:t>
            </a:r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F02B763C-7017-818B-F0CD-85334D54A3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532" y="904875"/>
            <a:ext cx="4048915" cy="26289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116794-57E6-3B65-96F2-CCEE5DAA03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532" y="3600533"/>
            <a:ext cx="4048915" cy="38105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4A48E435-2E87-A4D1-6DC8-5A846DD21A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643" y="904875"/>
            <a:ext cx="3434362" cy="145752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 descr="A screenshot of a table&#10;&#10;AI-generated content may be incorrect.">
            <a:extLst>
              <a:ext uri="{FF2B5EF4-FFF2-40B4-BE49-F238E27FC236}">
                <a16:creationId xmlns:a16="http://schemas.microsoft.com/office/drawing/2014/main" id="{363A24C5-557F-C6CF-CBD4-4364514F7E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643" y="2447436"/>
            <a:ext cx="3434362" cy="350568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Picture 12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AE10D3B0-3681-E55E-F8FC-C73C0A54A2F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3202" y="957128"/>
            <a:ext cx="3677163" cy="98121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B1169E2-7FB1-5C8B-4848-54015F6628B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3202" y="1990593"/>
            <a:ext cx="3677163" cy="346758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419C1A4-6283-4E7F-8A64-63055548B6C2}"/>
              </a:ext>
            </a:extLst>
          </p:cNvPr>
          <p:cNvCxnSpPr/>
          <p:nvPr/>
        </p:nvCxnSpPr>
        <p:spPr>
          <a:xfrm>
            <a:off x="4400550" y="752475"/>
            <a:ext cx="0" cy="61055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4FCF6DA-556C-1CC2-5EAA-6CF1C179FB58}"/>
              </a:ext>
            </a:extLst>
          </p:cNvPr>
          <p:cNvCxnSpPr/>
          <p:nvPr/>
        </p:nvCxnSpPr>
        <p:spPr>
          <a:xfrm>
            <a:off x="8039100" y="752475"/>
            <a:ext cx="0" cy="61055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E45D973-F813-1426-E011-C2DB0194B1BF}"/>
              </a:ext>
            </a:extLst>
          </p:cNvPr>
          <p:cNvSpPr txBox="1"/>
          <p:nvPr/>
        </p:nvSpPr>
        <p:spPr>
          <a:xfrm>
            <a:off x="571500" y="4330700"/>
            <a:ext cx="3464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Average Delivery Delay per Region (Start_Location). </a:t>
            </a: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31A9E13-59D7-2067-388D-485112FC1D43}"/>
              </a:ext>
            </a:extLst>
          </p:cNvPr>
          <p:cNvSpPr txBox="1"/>
          <p:nvPr/>
        </p:nvSpPr>
        <p:spPr>
          <a:xfrm>
            <a:off x="4610100" y="6038158"/>
            <a:ext cx="3181351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On-Time Delivery % = (Total On-Time Deliveries / Total Deliveries) * 100.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CF8971-19C5-C737-C81F-66262E8C3724}"/>
              </a:ext>
            </a:extLst>
          </p:cNvPr>
          <p:cNvSpPr txBox="1"/>
          <p:nvPr/>
        </p:nvSpPr>
        <p:spPr>
          <a:xfrm>
            <a:off x="8141196" y="5580958"/>
            <a:ext cx="3699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Average Traffic Delay per Route.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0576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7757"/>
    </mc:Choice>
    <mc:Fallback xmlns="">
      <p:transition spd="slow" advTm="87757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76FA0-50DB-4ACD-4B8A-B9DB15AD3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Link to the video.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1A583-D00B-F1BB-2050-B205E9310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hlinkClick r:id="rId2"/>
              </a:rPr>
              <a:t>https://drive.google.com/file/d/19su64c6xicuPuk-qsKrjKj6YEm1PEozo/view?usp=drive_link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3650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3877</TotalTime>
  <Words>491</Words>
  <Application>Microsoft Office PowerPoint</Application>
  <PresentationFormat>Widescreen</PresentationFormat>
  <Paragraphs>75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Logistics Optimization for Delivery Routes – Amazon</vt:lpstr>
      <vt:lpstr>Project Overview &amp; Objective</vt:lpstr>
      <vt:lpstr>Dataset Overview</vt:lpstr>
      <vt:lpstr>Task 1 – Data Cleaning &amp; Preparation</vt:lpstr>
      <vt:lpstr>Task 1 – Data Cleaning &amp; Preparation</vt:lpstr>
      <vt:lpstr>Task 2 – Delivery Delay Analysis</vt:lpstr>
      <vt:lpstr>Task 2 – Delivery Delay Analysis</vt:lpstr>
      <vt:lpstr>Task 2 – Delivery Delay Analysis</vt:lpstr>
      <vt:lpstr>Task 3 – Route Optimization Insights</vt:lpstr>
      <vt:lpstr>Task 3 – Route Optimization Insights</vt:lpstr>
      <vt:lpstr>Task 4 – Warehouse Performance</vt:lpstr>
      <vt:lpstr>Task 4 – Warehouse Performance</vt:lpstr>
      <vt:lpstr>Task 4 – Warehouse Performance</vt:lpstr>
      <vt:lpstr>Task 4 – Warehouse Performance</vt:lpstr>
      <vt:lpstr>Task 5 – Delivery Agent Performance</vt:lpstr>
      <vt:lpstr>Task 6 – Shipment Tracking Analytics</vt:lpstr>
      <vt:lpstr>Task 7 – KPI Dashboard</vt:lpstr>
      <vt:lpstr>Link to the video.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KSHITIZ PRAKASH</dc:creator>
  <cp:lastModifiedBy>KSHITIZ PRAKASH</cp:lastModifiedBy>
  <cp:revision>26</cp:revision>
  <dcterms:created xsi:type="dcterms:W3CDTF">2025-12-20T15:34:25Z</dcterms:created>
  <dcterms:modified xsi:type="dcterms:W3CDTF">2025-12-23T11:35:54Z</dcterms:modified>
</cp:coreProperties>
</file>